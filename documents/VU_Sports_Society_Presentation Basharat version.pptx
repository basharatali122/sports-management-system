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3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file:///C:\Users\Basharat%20ali\AppData\Local\Packages\5319275A.WhatsAppDesktop_cv1g1gvanyjgm\LocalState\sessions\6400F439DF0D14D3E21B3816AE992A39865F5B26\transfers\2026-04\1.drawio.png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8229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65836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– CS619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for VU Sports Society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755648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Flask-Based Web Application for Managing Sports Events, Teams &amp; Participants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371600" y="2286000"/>
            <a:ext cx="6400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50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ID: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23160" y="24505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F25PROJECTF3ABD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8529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(VU ID):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28529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BC220416508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2552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23160" y="325526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Abdur Rafay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450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37960" y="24505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2025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8529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37960" y="28529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CS619 – Software Project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61772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University of Pakistan | Department of Computer Sciences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 in this presentation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0" y="73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 Sports Society | CS619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92040"/>
            <a:ext cx="81381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 F25PROJECTF3ABD | BC220416508 | Supervisor: Mr. Abdur Rafay | CS619 Fall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732520" y="4892040"/>
            <a:ext cx="320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051560"/>
            <a:ext cx="4206240" cy="411480"/>
          </a:xfrm>
          <a:prstGeom prst="rect">
            <a:avLst/>
          </a:prstGeom>
          <a:solidFill>
            <a:srgbClr val="1F386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1051560"/>
            <a:ext cx="457200" cy="4114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41648" y="1051560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10515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Project Overview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1545336"/>
            <a:ext cx="4206240" cy="411480"/>
          </a:xfrm>
          <a:prstGeom prst="rect">
            <a:avLst/>
          </a:prstGeom>
          <a:solidFill>
            <a:srgbClr val="1F386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1545336"/>
            <a:ext cx="457200" cy="4114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41648" y="1545336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1545336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039112"/>
            <a:ext cx="4206240" cy="411480"/>
          </a:xfrm>
          <a:prstGeom prst="rect">
            <a:avLst/>
          </a:prstGeom>
          <a:solidFill>
            <a:srgbClr val="1F386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0" y="2039112"/>
            <a:ext cx="457200" cy="4114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41648" y="2039112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203911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Model (Agile)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2532888"/>
            <a:ext cx="4206240" cy="411480"/>
          </a:xfrm>
          <a:prstGeom prst="rect">
            <a:avLst/>
          </a:prstGeom>
          <a:solidFill>
            <a:srgbClr val="1F386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23360" y="2532888"/>
            <a:ext cx="457200" cy="4114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41648" y="2532888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" y="253288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74320" y="3026664"/>
            <a:ext cx="4206240" cy="411480"/>
          </a:xfrm>
          <a:prstGeom prst="rect">
            <a:avLst/>
          </a:prstGeom>
          <a:solidFill>
            <a:srgbClr val="1F386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23360" y="3026664"/>
            <a:ext cx="457200" cy="4114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41648" y="3026664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5760" y="3026664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Catalog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4320" y="3520440"/>
            <a:ext cx="4206240" cy="411480"/>
          </a:xfrm>
          <a:prstGeom prst="rect">
            <a:avLst/>
          </a:prstGeom>
          <a:solidFill>
            <a:srgbClr val="1F386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23360" y="3520440"/>
            <a:ext cx="457200" cy="4114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41648" y="3520440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5760" y="35204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Design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09160" y="1051560"/>
            <a:ext cx="4206240" cy="411480"/>
          </a:xfrm>
          <a:prstGeom prst="rect">
            <a:avLst/>
          </a:prstGeom>
          <a:solidFill>
            <a:srgbClr val="2E509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58200" y="1051560"/>
            <a:ext cx="457200" cy="4114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76488" y="1051560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800600" y="10515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709160" y="1545336"/>
            <a:ext cx="4206240" cy="411480"/>
          </a:xfrm>
          <a:prstGeom prst="rect">
            <a:avLst/>
          </a:prstGeom>
          <a:solidFill>
            <a:srgbClr val="2E509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58200" y="1545336"/>
            <a:ext cx="457200" cy="4114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76488" y="1545336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800600" y="1545336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709160" y="2039112"/>
            <a:ext cx="4206240" cy="411480"/>
          </a:xfrm>
          <a:prstGeom prst="rect">
            <a:avLst/>
          </a:prstGeom>
          <a:solidFill>
            <a:srgbClr val="2E509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58200" y="2039112"/>
            <a:ext cx="457200" cy="4114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76488" y="2039112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800600" y="203911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Diagram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709160" y="2532888"/>
            <a:ext cx="4206240" cy="411480"/>
          </a:xfrm>
          <a:prstGeom prst="rect">
            <a:avLst/>
          </a:prstGeom>
          <a:solidFill>
            <a:srgbClr val="2E509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458200" y="2532888"/>
            <a:ext cx="457200" cy="4114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76488" y="2532888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800600" y="253288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709160" y="3026664"/>
            <a:ext cx="4206240" cy="411480"/>
          </a:xfrm>
          <a:prstGeom prst="rect">
            <a:avLst/>
          </a:prstGeom>
          <a:solidFill>
            <a:srgbClr val="2E509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458200" y="3026664"/>
            <a:ext cx="457200" cy="4114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76488" y="3026664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4800600" y="3026664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Interfaces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4709160" y="3520440"/>
            <a:ext cx="4206240" cy="411480"/>
          </a:xfrm>
          <a:prstGeom prst="rect">
            <a:avLst/>
          </a:prstGeom>
          <a:solidFill>
            <a:srgbClr val="2E509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458200" y="3520440"/>
            <a:ext cx="457200" cy="4114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76488" y="3520440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4800600" y="35204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Technology Stack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 Introduction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 and supervisor details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0" y="73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 Sports Society | CS619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92040"/>
            <a:ext cx="81381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 F25PROJECTF3ABD | BC220416508 | Supervisor: Mr. Abdur Rafay | CS619 Fall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732520" y="4892040"/>
            <a:ext cx="320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051560"/>
            <a:ext cx="85953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51560"/>
            <a:ext cx="85953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0515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594360" cy="594360"/>
          </a:xfrm>
          <a:prstGeom prst="ellipse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508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15361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BC220416508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1810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Full-Stack Developer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205740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Flask, React.js, MongoDB, Flask-SocketIO, JWT Auth, Tailwind CSS, Git, API Design, Testing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2423160"/>
            <a:ext cx="83210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14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Supervisor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81635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Abdur Rafay  |  abdur.rafay@vu.edu.pk  |  Software Projects &amp; Research Section, Dept. of CS, VU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383280"/>
            <a:ext cx="4114800" cy="438912"/>
          </a:xfrm>
          <a:prstGeom prst="rect">
            <a:avLst/>
          </a:prstGeom>
          <a:solidFill>
            <a:srgbClr val="D6E4F0"/>
          </a:solidFill>
          <a:ln w="6350">
            <a:solidFill>
              <a:srgbClr val="2E5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3383280"/>
            <a:ext cx="4206240" cy="438912"/>
          </a:xfrm>
          <a:prstGeom prst="rect">
            <a:avLst/>
          </a:prstGeom>
          <a:solidFill>
            <a:srgbClr val="D6E4F0"/>
          </a:solidFill>
          <a:ln w="6350">
            <a:solidFill>
              <a:srgbClr val="2E5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38328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Web Application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338328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Flask + React.js + MongoDB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– 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proposed solution, and impact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0" y="73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 Sports Society | CS619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92040"/>
            <a:ext cx="81381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 F25PROJECTF3ABD | BC220416508 | Supervisor: Mr. Abdur Rafay | CS619 Fall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732520" y="4892040"/>
            <a:ext cx="320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005840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005840"/>
            <a:ext cx="4206240" cy="29260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" y="1042416"/>
            <a:ext cx="4059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Problem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1353312"/>
            <a:ext cx="40233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sports management at VU leads to: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Inefficiencies in event registration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Poor coach-participant communication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centralized performance tracking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Scaling issues with growing demand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42519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05840"/>
            <a:ext cx="4251960" cy="292608"/>
          </a:xfrm>
          <a:prstGeom prst="rect">
            <a:avLst/>
          </a:prstGeom>
          <a:solidFill>
            <a:srgbClr val="1D7A4A"/>
          </a:solidFill>
          <a:ln w="12700">
            <a:solidFill>
              <a:srgbClr val="1D7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1042416"/>
            <a:ext cx="4105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353312"/>
            <a:ext cx="40690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Flask-based web application that: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Automates event &amp; team management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Role-based dashboards (3 user types)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chat &amp; push notifications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Performance stats &amp; leaderboards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301752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3017520"/>
            <a:ext cx="2651760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3054096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Type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3364992"/>
            <a:ext cx="24688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(SPA + REST API)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08960" y="301752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08960" y="3017520"/>
            <a:ext cx="2651760" cy="292608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82112" y="3054096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0" y="3364992"/>
            <a:ext cx="24688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(Students/Staff)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/ Team Leaders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89320" y="3017520"/>
            <a:ext cx="29260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89320" y="3017520"/>
            <a:ext cx="2926080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62472" y="3054096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80760" y="3364992"/>
            <a:ext cx="2743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User Roles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Test Cases Passed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Core Features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– User Roles &amp; Key Features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distinct user types with tailored capabilities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0" y="73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 Sports Society | CS619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92040"/>
            <a:ext cx="81381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 F25PROJECTF3ABD | BC220416508 | Supervisor: Mr. Abdur Rafay | CS619 Fall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732520" y="4892040"/>
            <a:ext cx="320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960120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960120"/>
            <a:ext cx="2743200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9601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(Students/Staff)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709928"/>
            <a:ext cx="164592" cy="16459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9164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(max 2 sports)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157984"/>
            <a:ext cx="164592" cy="16459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139696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(Coach approval required)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606040"/>
            <a:ext cx="164592" cy="16459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58775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register for events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054096"/>
            <a:ext cx="164592" cy="16459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03580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or create sports teams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502152"/>
            <a:ext cx="164592" cy="16459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48386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performance &amp; leaderboards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950208"/>
            <a:ext cx="164592" cy="16459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93192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 with coaches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54680" y="960120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960120"/>
            <a:ext cx="2743200" cy="64008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9601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/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91840" y="1709928"/>
            <a:ext cx="164592" cy="164592"/>
          </a:xfrm>
          <a:prstGeom prst="ellipse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0440" y="169164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(Admin approval required)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91840" y="2157984"/>
            <a:ext cx="164592" cy="164592"/>
          </a:xfrm>
          <a:prstGeom prst="ellipse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0440" y="2139696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manage sports teams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91840" y="2606040"/>
            <a:ext cx="164592" cy="164592"/>
          </a:xfrm>
          <a:prstGeom prst="ellipse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258775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roles &amp; coordinate practices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91840" y="3054096"/>
            <a:ext cx="164592" cy="164592"/>
          </a:xfrm>
          <a:prstGeom prst="ellipse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0440" y="303580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participant profiles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91840" y="3502152"/>
            <a:ext cx="164592" cy="164592"/>
          </a:xfrm>
          <a:prstGeom prst="ellipse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20440" y="348386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events &amp; matches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91840" y="3950208"/>
            <a:ext cx="164592" cy="164592"/>
          </a:xfrm>
          <a:prstGeom prst="ellipse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20440" y="393192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performance &amp; feedback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080760" y="960120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80760" y="960120"/>
            <a:ext cx="2743200" cy="6400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9601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217920" y="1709928"/>
            <a:ext cx="164592" cy="16459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46520" y="169164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user management (add/block/delete)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17920" y="2157984"/>
            <a:ext cx="164592" cy="16459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2139696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teams &amp; event registrations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217920" y="2606040"/>
            <a:ext cx="164592" cy="16459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46520" y="258775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events &amp; manage logistics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217920" y="3054096"/>
            <a:ext cx="164592" cy="16459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46520" y="303580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notifications to all users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217920" y="3502152"/>
            <a:ext cx="164592" cy="16459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46520" y="348386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sports categories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217920" y="3950208"/>
            <a:ext cx="164592" cy="16459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46520" y="393192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stats &amp; generate reports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Process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– Iterative &amp; Incremental Methodology (10 Sprints × 2 Weeks)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0" y="73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 Sports Society | CS619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92040"/>
            <a:ext cx="81381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 F25PROJECTF3ABD | BC220416508 | Supervisor: Mr. Abdur Rafay | CS619 Fall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732520" y="4892040"/>
            <a:ext cx="320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1920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960120"/>
            <a:ext cx="19202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8992" y="658368"/>
            <a:ext cx="402336" cy="402336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6583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0040" y="960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Analysis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151790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1-2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1819656"/>
            <a:ext cx="1737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Gathering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Document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&amp; Scenarios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Selection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58568" y="2423160"/>
            <a:ext cx="237744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960120"/>
            <a:ext cx="1920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14600" y="960120"/>
            <a:ext cx="1920240" cy="50292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73552" y="658368"/>
            <a:ext cx="402336" cy="402336"/>
          </a:xfrm>
          <a:prstGeom prst="ellipse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73552" y="6583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514600" y="960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Design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14600" y="151790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3-4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606040" y="1819656"/>
            <a:ext cx="1737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&amp; Class Diagram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Wireframes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53128" y="2423160"/>
            <a:ext cx="237744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960120"/>
            <a:ext cx="1920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960120"/>
            <a:ext cx="1920240" cy="5029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68112" y="658368"/>
            <a:ext cx="402336" cy="402336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68112" y="6583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709160" y="960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Development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09160" y="151790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5-8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1819656"/>
            <a:ext cx="1737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+ APIs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Frontend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Database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 Module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647688" y="2423160"/>
            <a:ext cx="237744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03720" y="960120"/>
            <a:ext cx="1920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903720" y="960120"/>
            <a:ext cx="1920240" cy="502920"/>
          </a:xfrm>
          <a:prstGeom prst="rect">
            <a:avLst/>
          </a:prstGeom>
          <a:solidFill>
            <a:srgbClr val="1D7A4A"/>
          </a:solidFill>
          <a:ln w="12700">
            <a:solidFill>
              <a:srgbClr val="1D7A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62672" y="658368"/>
            <a:ext cx="402336" cy="402336"/>
          </a:xfrm>
          <a:prstGeom prst="ellipse">
            <a:avLst/>
          </a:prstGeom>
          <a:solidFill>
            <a:srgbClr val="1D7A4A"/>
          </a:solidFill>
          <a:ln w="12700">
            <a:solidFill>
              <a:srgbClr val="1D7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62672" y="6583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903720" y="960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Testing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03720" y="151790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9-10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995160" y="1819656"/>
            <a:ext cx="1737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Integration Tests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Test Cases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with Supervisor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Deployment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74320" y="418795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sprint = 2 weeks | Supervisor reviews conducted after each phase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actors and their core interactions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0" y="73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 Sports Society | CS619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92040"/>
            <a:ext cx="81381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 F25PROJECTF3ABD | BC220416508 | Supervisor: Mr. Abdur Rafay | CS619 Fall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732520" y="4892040"/>
            <a:ext cx="320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0" y="9601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" y="1737360"/>
            <a:ext cx="1554480" cy="53035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" y="1737360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" y="2743200"/>
            <a:ext cx="1554480" cy="530352"/>
          </a:xfrm>
          <a:prstGeom prst="ellipse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" y="2743200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/ TL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" y="3703320"/>
            <a:ext cx="1554480" cy="53035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" y="3703320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1371600"/>
            <a:ext cx="20116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26280" y="1371600"/>
            <a:ext cx="20116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(Admin appvl)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629400" y="1371600"/>
            <a:ext cx="20116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Logout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148840" y="1005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4480560" y="1005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6583680" y="1005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pic>
        <p:nvPicPr>
          <p:cNvPr id="62" name="Picture 61" descr="Untitled Diagram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37445" y="1203181"/>
            <a:ext cx="3639658" cy="3434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Catalog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 requirements of the system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0" y="73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 Sports Society | CS619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92040"/>
            <a:ext cx="81381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 F25PROJECTF3ABD | BC220416508 | Supervisor: Mr. Abdur Rafay | CS619 Fall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732520" y="4892040"/>
            <a:ext cx="320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1005840"/>
            <a:ext cx="4160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1005840"/>
            <a:ext cx="50292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1005840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00584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can register for a maximum of 2 sports.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" y="1481328"/>
            <a:ext cx="4160520" cy="402336"/>
          </a:xfrm>
          <a:prstGeom prst="rect">
            <a:avLst/>
          </a:prstGeom>
          <a:solidFill>
            <a:srgbClr val="F5F8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1481328"/>
            <a:ext cx="50292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1481328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148132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login requires prior Coach approval after registration.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" y="1956816"/>
            <a:ext cx="4160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" y="1956816"/>
            <a:ext cx="50292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1956816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1956816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login requires Admin approval after registration.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" y="2432304"/>
            <a:ext cx="4160520" cy="402336"/>
          </a:xfrm>
          <a:prstGeom prst="rect">
            <a:avLst/>
          </a:prstGeom>
          <a:solidFill>
            <a:srgbClr val="F5F8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2432304"/>
            <a:ext cx="50292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2432304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2432304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coach is assigned per sport category.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2880" y="2907792"/>
            <a:ext cx="4160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2907792"/>
            <a:ext cx="50292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290779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290779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must approve participants before they can join the team.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2880" y="3383280"/>
            <a:ext cx="4160520" cy="402336"/>
          </a:xfrm>
          <a:prstGeom prst="rect">
            <a:avLst/>
          </a:prstGeom>
          <a:solidFill>
            <a:srgbClr val="F5F8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" y="3383280"/>
            <a:ext cx="50292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" y="3383280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1520" y="338328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must approve all team formations before activation.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1005840"/>
            <a:ext cx="4160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7720" y="1005840"/>
            <a:ext cx="50292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1005840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66360" y="100584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must approve event registrations before confirmation.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17720" y="1481328"/>
            <a:ext cx="4160520" cy="402336"/>
          </a:xfrm>
          <a:prstGeom prst="rect">
            <a:avLst/>
          </a:prstGeom>
          <a:solidFill>
            <a:srgbClr val="F5F8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17720" y="1481328"/>
            <a:ext cx="50292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17720" y="1481328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66360" y="148132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must be hashed with bcrypt before storage.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17720" y="1956816"/>
            <a:ext cx="4160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17720" y="1956816"/>
            <a:ext cx="50292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17720" y="1956816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BR-09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66360" y="1956816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 must be validated for all protected API routes.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17720" y="2432304"/>
            <a:ext cx="4160520" cy="402336"/>
          </a:xfrm>
          <a:prstGeom prst="rect">
            <a:avLst/>
          </a:prstGeom>
          <a:solidFill>
            <a:srgbClr val="F5F8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17720" y="2432304"/>
            <a:ext cx="50292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17720" y="2432304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BR-10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166360" y="2432304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 is delivered via WebSocket (Flask-SocketIO).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17720" y="2907792"/>
            <a:ext cx="4160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17720" y="2907792"/>
            <a:ext cx="50292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17720" y="290779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BR-11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166360" y="290779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statistics are visible to participants and coaches.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617720" y="3383280"/>
            <a:ext cx="4160520" cy="402336"/>
          </a:xfrm>
          <a:prstGeom prst="rect">
            <a:avLst/>
          </a:prstGeom>
          <a:solidFill>
            <a:srgbClr val="F5F8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17720" y="3383280"/>
            <a:ext cx="50292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17720" y="3383280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BR-12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166360" y="338328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can block, delete, or modify any user account.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Pattern – Three-Tier Client-Server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0" y="73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 Sports Society | CS619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92040"/>
            <a:ext cx="81381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 F25PROJECTF3ABD | BC220416508 | Supervisor: Mr. Abdur Rafay | CS619 Fall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732520" y="4892040"/>
            <a:ext cx="320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" y="9601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(Frontend)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291840" y="9601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(Flask Backend)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355080" y="9601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(MongoDB)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446520" y="230428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446520" y="256946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446520" y="28346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446520" y="309981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446520" y="336499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82880" y="4096512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enforced at middleware layer | WebSocket via Flask-SocketIO for real-time features</a:t>
            </a:r>
            <a:endParaRPr lang="en-US" sz="1050" dirty="0"/>
          </a:p>
        </p:txBody>
      </p:sp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0481" name="Object 1"/>
          <p:cNvGraphicFramePr>
            <a:graphicFrameLocks noChangeAspect="1"/>
          </p:cNvGraphicFramePr>
          <p:nvPr/>
        </p:nvGraphicFramePr>
        <p:xfrm>
          <a:off x="3681888" y="1085242"/>
          <a:ext cx="1916271" cy="28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" r:id="rId4" imgW="4420898" imgH="6690366" progId="Visio.Drawing.11">
                  <p:embed/>
                </p:oleObj>
              </mc:Choice>
              <mc:Fallback>
                <p:oleObj r:id="rId4" imgW="4420898" imgH="6690366" progId="Visio.Drawing.11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1888" y="1085242"/>
                        <a:ext cx="1916271" cy="2895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Structure &amp; Project Schedule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Gantt-style development timeline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0" y="73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 Sports Society | CS619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92040"/>
            <a:ext cx="81381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 F25PROJECTF3ABD | BC220416508 | Supervisor: Mr. Abdur Rafay | CS619 Fall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732520" y="4892040"/>
            <a:ext cx="320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1005840"/>
            <a:ext cx="3931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1005840"/>
            <a:ext cx="393192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Structure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" y="1444752"/>
            <a:ext cx="548640" cy="548640"/>
          </a:xfrm>
          <a:prstGeom prst="ellipse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4447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87552" y="144475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BC220416508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7552" y="170078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Full Stack Developer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19385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Flask, React.js, MongoDB, SocketIO, JWT, Testing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" y="2724912"/>
            <a:ext cx="548640" cy="548640"/>
          </a:xfrm>
          <a:prstGeom prst="ellipse">
            <a:avLst/>
          </a:prstGeom>
          <a:solidFill>
            <a:srgbClr val="1D7A4A"/>
          </a:solidFill>
          <a:ln w="12700">
            <a:solidFill>
              <a:srgbClr val="1D7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7249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87552" y="272491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Abdur Rafay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87552" y="298094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Project Supervisor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" y="32186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Guidance, Review, Requirements Validation, Approval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43400" y="1005840"/>
            <a:ext cx="45720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43400" y="1005840"/>
            <a:ext cx="457200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10058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Schedule Overview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34840" y="144475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(Sprints 1-2)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09360" y="1499616"/>
            <a:ext cx="585216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1499616"/>
            <a:ext cx="5852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4W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434840" y="204825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(Sprints 3-4)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94576" y="2103120"/>
            <a:ext cx="585216" cy="292608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94576" y="2103120"/>
            <a:ext cx="5852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4W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434840" y="265176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(Sprints 5-8)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79792" y="2706624"/>
            <a:ext cx="1170432" cy="29260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79792" y="2706624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8W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434840" y="325526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(Sprints 9-10)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650224" y="3310128"/>
            <a:ext cx="585216" cy="292608"/>
          </a:xfrm>
          <a:prstGeom prst="rect">
            <a:avLst/>
          </a:prstGeom>
          <a:solidFill>
            <a:srgbClr val="1D7A4A"/>
          </a:solidFill>
          <a:ln w="12700">
            <a:solidFill>
              <a:srgbClr val="1D7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50224" y="3310128"/>
            <a:ext cx="5852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4W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434840" y="3858768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Duration: 20 Weeks (10 Sprints x 2 Weeks each)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– Participant Registration &amp; Approval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between Participant, System, Coach, and Database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0" y="73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 Sports Society | CS619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92040"/>
            <a:ext cx="81381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 F25PROJECTF3ABD | BC220416508 | Supervisor: Mr. Abdur Rafay | CS619 Fall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732520" y="4892040"/>
            <a:ext cx="320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960120"/>
            <a:ext cx="137160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960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43000" y="1417320"/>
            <a:ext cx="0" cy="3291840"/>
          </a:xfrm>
          <a:prstGeom prst="line">
            <a:avLst/>
          </a:prstGeom>
          <a:noFill/>
          <a:ln w="12700">
            <a:solidFill>
              <a:srgbClr val="1F3864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200400" y="960120"/>
            <a:ext cx="1371600" cy="45720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960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86200" y="1417320"/>
            <a:ext cx="0" cy="3291840"/>
          </a:xfrm>
          <a:prstGeom prst="line">
            <a:avLst/>
          </a:prstGeom>
          <a:noFill/>
          <a:ln w="12700">
            <a:solidFill>
              <a:srgbClr val="2E509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943600" y="960120"/>
            <a:ext cx="1371600" cy="457200"/>
          </a:xfrm>
          <a:prstGeom prst="rect">
            <a:avLst/>
          </a:prstGeom>
          <a:solidFill>
            <a:srgbClr val="1D7A4A"/>
          </a:solidFill>
          <a:ln w="12700">
            <a:solidFill>
              <a:srgbClr val="1D7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960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29400" y="1417320"/>
            <a:ext cx="0" cy="3291840"/>
          </a:xfrm>
          <a:prstGeom prst="line">
            <a:avLst/>
          </a:prstGeom>
          <a:noFill/>
          <a:ln w="12700">
            <a:solidFill>
              <a:srgbClr val="1D7A4A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8046720" y="960120"/>
            <a:ext cx="1371600" cy="4572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960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732520" y="1417320"/>
            <a:ext cx="0" cy="329184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143000" y="1581912"/>
            <a:ext cx="274320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16152" y="1362456"/>
            <a:ext cx="267004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Submit Registration Form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86200" y="1901952"/>
            <a:ext cx="4846320" cy="0"/>
          </a:xfrm>
          <a:prstGeom prst="line">
            <a:avLst/>
          </a:prstGeom>
          <a:noFill/>
          <a:ln w="19050">
            <a:solidFill>
              <a:srgbClr val="2E5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59352" y="1682496"/>
            <a:ext cx="477316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Validate &amp; Save User (status: pending)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886200" y="2221992"/>
            <a:ext cx="484632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3959352" y="2002536"/>
            <a:ext cx="477316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Return: User Created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886200" y="2542032"/>
            <a:ext cx="2743200" cy="0"/>
          </a:xfrm>
          <a:prstGeom prst="line">
            <a:avLst/>
          </a:prstGeom>
          <a:noFill/>
          <a:ln w="19050">
            <a:solidFill>
              <a:srgbClr val="2E5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59352" y="2322576"/>
            <a:ext cx="267004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Notify Coach of New Registration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86200" y="2862072"/>
            <a:ext cx="2743200" cy="0"/>
          </a:xfrm>
          <a:prstGeom prst="line">
            <a:avLst/>
          </a:prstGeom>
          <a:noFill/>
          <a:ln w="19050">
            <a:solidFill>
              <a:srgbClr val="1D7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59352" y="2642616"/>
            <a:ext cx="267004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Coach Reviews &amp; Approves Profile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886200" y="3182112"/>
            <a:ext cx="4846320" cy="0"/>
          </a:xfrm>
          <a:prstGeom prst="line">
            <a:avLst/>
          </a:prstGeom>
          <a:noFill/>
          <a:ln w="19050">
            <a:solidFill>
              <a:srgbClr val="2E5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59352" y="2962656"/>
            <a:ext cx="477316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Update User Status: Approved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143000" y="3502152"/>
            <a:ext cx="2743200" cy="0"/>
          </a:xfrm>
          <a:prstGeom prst="line">
            <a:avLst/>
          </a:prstGeom>
          <a:noFill/>
          <a:ln w="19050">
            <a:solidFill>
              <a:srgbClr val="2E509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216152" y="3282696"/>
            <a:ext cx="267004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Send Approval Notification to Participant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82880" y="393192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step 7, the Participant can log in to the system with full access.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– Event Registration 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Participant registers for a Sports Event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0" y="73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 Sports Society | CS619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92040"/>
            <a:ext cx="81381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 F25PROJECTF3ABD | BC220416508 | Supervisor: Mr. Abdur Rafay | CS619 Fall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732520" y="4892040"/>
            <a:ext cx="320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960120"/>
            <a:ext cx="146304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960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97280" y="1417320"/>
            <a:ext cx="0" cy="3291840"/>
          </a:xfrm>
          <a:prstGeom prst="line">
            <a:avLst/>
          </a:prstGeom>
          <a:noFill/>
          <a:ln w="12700">
            <a:solidFill>
              <a:srgbClr val="1F3864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103120" y="960120"/>
            <a:ext cx="1463040" cy="45720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960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834640" y="1417320"/>
            <a:ext cx="0" cy="3291840"/>
          </a:xfrm>
          <a:prstGeom prst="line">
            <a:avLst/>
          </a:prstGeom>
          <a:noFill/>
          <a:ln w="12700">
            <a:solidFill>
              <a:srgbClr val="2E509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206240" y="960120"/>
            <a:ext cx="1463040" cy="457200"/>
          </a:xfrm>
          <a:prstGeom prst="rect">
            <a:avLst/>
          </a:prstGeom>
          <a:solidFill>
            <a:srgbClr val="1D7A4A"/>
          </a:solidFill>
          <a:ln w="12700">
            <a:solidFill>
              <a:srgbClr val="1D7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960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37760" y="1417320"/>
            <a:ext cx="0" cy="3291840"/>
          </a:xfrm>
          <a:prstGeom prst="line">
            <a:avLst/>
          </a:prstGeom>
          <a:noFill/>
          <a:ln w="12700">
            <a:solidFill>
              <a:srgbClr val="1D7A4A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309360" y="960120"/>
            <a:ext cx="1463040" cy="4572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960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040880" y="1417320"/>
            <a:ext cx="0" cy="329184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8046720" y="960120"/>
            <a:ext cx="146304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0" y="960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778240" y="1417320"/>
            <a:ext cx="0" cy="3291840"/>
          </a:xfrm>
          <a:prstGeom prst="line">
            <a:avLst/>
          </a:prstGeom>
          <a:noFill/>
          <a:ln w="12700">
            <a:solidFill>
              <a:srgbClr val="1F3864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097280" y="1572768"/>
            <a:ext cx="173736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52144" y="1371600"/>
            <a:ext cx="16824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Browse Events Page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834640" y="1874520"/>
            <a:ext cx="2103120" cy="0"/>
          </a:xfrm>
          <a:prstGeom prst="line">
            <a:avLst/>
          </a:prstGeom>
          <a:noFill/>
          <a:ln w="19050">
            <a:solidFill>
              <a:srgbClr val="2E5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89504" y="1673352"/>
            <a:ext cx="20482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GET /api/events (approved=true)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37760" y="2176272"/>
            <a:ext cx="3840480" cy="0"/>
          </a:xfrm>
          <a:prstGeom prst="line">
            <a:avLst/>
          </a:prstGeom>
          <a:noFill/>
          <a:ln w="19050">
            <a:solidFill>
              <a:srgbClr val="1D7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92624" y="1975104"/>
            <a:ext cx="3785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Query approved events from DB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834640" y="2468880"/>
            <a:ext cx="594360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2889504" y="2267712"/>
            <a:ext cx="58887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Return events list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97280" y="2743200"/>
            <a:ext cx="384048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52144" y="2542032"/>
            <a:ext cx="3785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POST /api/events/register (event_id)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37760" y="3035808"/>
            <a:ext cx="3840480" cy="0"/>
          </a:xfrm>
          <a:prstGeom prst="line">
            <a:avLst/>
          </a:prstGeom>
          <a:noFill/>
          <a:ln w="19050">
            <a:solidFill>
              <a:srgbClr val="1D7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92624" y="2834640"/>
            <a:ext cx="3785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Save EventRegistration (status: pending)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937760" y="3337560"/>
            <a:ext cx="2103120" cy="0"/>
          </a:xfrm>
          <a:prstGeom prst="line">
            <a:avLst/>
          </a:prstGeom>
          <a:noFill/>
          <a:ln w="19050">
            <a:solidFill>
              <a:srgbClr val="1D7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92624" y="3136392"/>
            <a:ext cx="20482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Notify Admin of new registration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937760" y="3639312"/>
            <a:ext cx="210312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92624" y="3438144"/>
            <a:ext cx="20482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Admin approves or rejects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97280" y="3931920"/>
            <a:ext cx="3840480" cy="0"/>
          </a:xfrm>
          <a:prstGeom prst="line">
            <a:avLst/>
          </a:prstGeom>
          <a:noFill/>
          <a:ln w="19050">
            <a:solidFill>
              <a:srgbClr val="2E509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152144" y="3730752"/>
            <a:ext cx="3785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Confirmation notification to Participant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Model / Class Diagram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application classes, attributes, and relationships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0" y="73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 Sports Society | CS619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92040"/>
            <a:ext cx="81381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 F25PROJECTF3ABD | BC220416508 | Supervisor: Mr. Abdur Rafay | CS619 Fall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732520" y="4892040"/>
            <a:ext cx="320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" y="100584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423160" y="100584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06" name="Text 104"/>
          <p:cNvSpPr/>
          <p:nvPr/>
        </p:nvSpPr>
        <p:spPr>
          <a:xfrm>
            <a:off x="6903720" y="301752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pic>
        <p:nvPicPr>
          <p:cNvPr id="118" name="Picture 117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25140" y="1005840"/>
            <a:ext cx="2910840" cy="3630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Diagram (ERD)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entities and their relationships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0" y="73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 Sports Society | CS619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92040"/>
            <a:ext cx="81381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 F25PROJECTF3ABD | BC220416508 | Supervisor: Mr. Abdur Rafay | CS619 Fall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732520" y="4892040"/>
            <a:ext cx="320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0" y="109728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217920" y="310896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SPORTS_CATEGORY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82880" y="4663440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USER → N EVENT_REGISTRATIONS  |  1 EVENT → N REGISTRATIONS  |  1 COACH (USER) → N TEAMS  |  1 SPORTS_CATEGORY → N EVENTS</a:t>
            </a:r>
            <a:endParaRPr lang="en-US" sz="950" dirty="0"/>
          </a:p>
        </p:txBody>
      </p:sp>
      <p:pic>
        <p:nvPicPr>
          <p:cNvPr id="10241" name="Picture 1" descr="C:\Users\Basharat ali\AppData\Local\Packages\5319275A.WhatsAppDesktop_cv1g1gvanyjgm\LocalState\sessions\6400F439DF0D14D3E21B3816AE992A39865F5B26\transfers\2026-04\1.drawio.png"/>
          <p:cNvPicPr>
            <a:picLocks noChangeAspect="1" noChangeArrowheads="1"/>
          </p:cNvPicPr>
          <p:nvPr/>
        </p:nvPicPr>
        <p:blipFill>
          <a:blip r:embed="rId3" r:link="rId4"/>
          <a:srcRect/>
          <a:stretch>
            <a:fillRect/>
          </a:stretch>
        </p:blipFill>
        <p:spPr bwMode="auto">
          <a:xfrm>
            <a:off x="3069003" y="1003968"/>
            <a:ext cx="2976197" cy="3628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Collections Schema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0" y="73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 Sports Society | CS619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92040"/>
            <a:ext cx="81381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 F25PROJECTF3ABD | BC220416508 | Supervisor: Mr. Abdur Rafay | CS619 Fall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732520" y="4892040"/>
            <a:ext cx="320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819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29721" y="1070874"/>
            <a:ext cx="2815496" cy="3653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Interfaces – Application Screens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pages for each user role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0" y="73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 Sports Society | CS619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92040"/>
            <a:ext cx="81381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 F25PROJECTF3ABD | BC220416508 | Supervisor: Mr. Abdur Rafay | CS619 Fall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732520" y="4892040"/>
            <a:ext cx="320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971A5A-D1FB-4E11-9C96-5E042847A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87552"/>
            <a:ext cx="2024790" cy="37261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40F142-F9EF-4D7B-B509-5899733CE1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9342" y="1159462"/>
            <a:ext cx="2884742" cy="28815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B907C81-A17E-4F9A-B380-996348E736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5851" y="1143000"/>
            <a:ext cx="3228244" cy="255435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Technology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 during development of this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0" y="73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 Sports Society | CS619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92040"/>
            <a:ext cx="81381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 F25PROJECTF3ABD | BC220416508 | Supervisor: Mr. Abdur Rafay | CS619 Fall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732520" y="4892040"/>
            <a:ext cx="320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7160" y="1005840"/>
            <a:ext cx="1645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7160" y="1005840"/>
            <a:ext cx="164592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1005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1389888"/>
            <a:ext cx="457200" cy="457200"/>
          </a:xfrm>
          <a:prstGeom prst="ellipse">
            <a:avLst/>
          </a:prstGeom>
          <a:solidFill>
            <a:srgbClr val="000000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19019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" y="21945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WSGI framework for REST APIs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920240" y="1005840"/>
            <a:ext cx="1645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920240" y="1005840"/>
            <a:ext cx="1645920" cy="32004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1005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(Vite)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14600" y="1389888"/>
            <a:ext cx="457200" cy="457200"/>
          </a:xfrm>
          <a:prstGeom prst="ellipse">
            <a:avLst/>
          </a:prstGeom>
          <a:solidFill>
            <a:srgbClr val="000000"/>
          </a:solidFill>
          <a:ln w="6350">
            <a:solidFill>
              <a:srgbClr val="2E5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0" y="19019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Framework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65960" y="21945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SPA with hot module replacement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703320" y="1005840"/>
            <a:ext cx="1645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03320" y="1005840"/>
            <a:ext cx="1645920" cy="320040"/>
          </a:xfrm>
          <a:prstGeom prst="rect">
            <a:avLst/>
          </a:prstGeom>
          <a:solidFill>
            <a:srgbClr val="1D7A4A"/>
          </a:solidFill>
          <a:ln w="12700">
            <a:solidFill>
              <a:srgbClr val="1D7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1005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1389888"/>
            <a:ext cx="457200" cy="457200"/>
          </a:xfrm>
          <a:prstGeom prst="ellipse">
            <a:avLst/>
          </a:prstGeom>
          <a:solidFill>
            <a:srgbClr val="000000"/>
          </a:solidFill>
          <a:ln w="6350">
            <a:solidFill>
              <a:srgbClr val="1D7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19019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Database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49040" y="21945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document database for flexible storage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486400" y="1005840"/>
            <a:ext cx="1645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0" y="1005840"/>
            <a:ext cx="1645920" cy="3200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1005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Flask-SocketIO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0760" y="1389888"/>
            <a:ext cx="457200" cy="457200"/>
          </a:xfrm>
          <a:prstGeom prst="ellipse">
            <a:avLst/>
          </a:prstGeom>
          <a:solidFill>
            <a:srgbClr val="0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19019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Comms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32120" y="21945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support for live chat &amp; notifications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269480" y="1005840"/>
            <a:ext cx="1645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69480" y="1005840"/>
            <a:ext cx="164592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1005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863840" y="1389888"/>
            <a:ext cx="457200" cy="457200"/>
          </a:xfrm>
          <a:prstGeom prst="ellipse">
            <a:avLst/>
          </a:prstGeom>
          <a:solidFill>
            <a:srgbClr val="000000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69480" y="19019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15200" y="21945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auth tokens + secure password hashing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37160" y="2743200"/>
            <a:ext cx="1645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37160" y="2743200"/>
            <a:ext cx="1645920" cy="32004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7160" y="2743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31520" y="3127248"/>
            <a:ext cx="457200" cy="457200"/>
          </a:xfrm>
          <a:prstGeom prst="ellipse">
            <a:avLst/>
          </a:prstGeom>
          <a:solidFill>
            <a:srgbClr val="000000"/>
          </a:solidFill>
          <a:ln w="6350">
            <a:solidFill>
              <a:srgbClr val="2E5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363931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Styling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82880" y="39319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responsive design framework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920240" y="2743200"/>
            <a:ext cx="1645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1920240" y="2743200"/>
            <a:ext cx="164592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920240" y="2743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514600" y="3127248"/>
            <a:ext cx="457200" cy="457200"/>
          </a:xfrm>
          <a:prstGeom prst="ellipse">
            <a:avLst/>
          </a:prstGeom>
          <a:solidFill>
            <a:srgbClr val="000000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20240" y="363931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965960" y="39319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management &amp; collaboration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703320" y="2743200"/>
            <a:ext cx="1645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703320" y="2743200"/>
            <a:ext cx="1645920" cy="320040"/>
          </a:xfrm>
          <a:prstGeom prst="rect">
            <a:avLst/>
          </a:prstGeom>
          <a:solidFill>
            <a:srgbClr val="1D7A4A"/>
          </a:solidFill>
          <a:ln w="12700">
            <a:solidFill>
              <a:srgbClr val="1D7A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03320" y="2743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/ Fetch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297680" y="3127248"/>
            <a:ext cx="457200" cy="457200"/>
          </a:xfrm>
          <a:prstGeom prst="ellipse">
            <a:avLst/>
          </a:prstGeom>
          <a:solidFill>
            <a:srgbClr val="000000"/>
          </a:solidFill>
          <a:ln w="6350">
            <a:solidFill>
              <a:srgbClr val="1D7A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03320" y="363931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Communication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749040" y="39319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 for frontend-backend API calls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486400" y="2743200"/>
            <a:ext cx="1645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486400" y="2743200"/>
            <a:ext cx="1645920" cy="3200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86400" y="2743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080760" y="3127248"/>
            <a:ext cx="457200" cy="457200"/>
          </a:xfrm>
          <a:prstGeom prst="ellipse">
            <a:avLst/>
          </a:prstGeom>
          <a:solidFill>
            <a:srgbClr val="0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0" y="363931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532120" y="39319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testing and documentation tool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269480" y="2743200"/>
            <a:ext cx="1645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7269480" y="2743200"/>
            <a:ext cx="1645920" cy="32004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269480" y="2743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/ pip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863840" y="3127248"/>
            <a:ext cx="457200" cy="457200"/>
          </a:xfrm>
          <a:prstGeom prst="ellipse">
            <a:avLst/>
          </a:prstGeom>
          <a:solidFill>
            <a:srgbClr val="000000"/>
          </a:solidFill>
          <a:ln w="6350">
            <a:solidFill>
              <a:srgbClr val="2E509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69480" y="363931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Managers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315200" y="39319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(npm) &amp; backend (pip) dependencies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2920"/>
            <a:ext cx="8229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685800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371600" y="1920240"/>
            <a:ext cx="6400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11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395728"/>
            <a:ext cx="182880" cy="18288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368296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Flask + React.js three-role web application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2734056"/>
            <a:ext cx="182880" cy="18288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706624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 and push notifications via Flask-SocketIO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072384"/>
            <a:ext cx="182880" cy="18288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304495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approval workflows: Participant → Coach → Admin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410712"/>
            <a:ext cx="182880" cy="18288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33832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stats, leaderboards, and sports equipment shop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3749040"/>
            <a:ext cx="182880" cy="18288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372160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19 functional test cases passed successfully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0" y="4160520"/>
            <a:ext cx="6400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25196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F25PROJECTF3ABD | BC220416508 | Supervisor: Mr. Abdur Rafay | CS619 – Fall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1609</Words>
  <Application>Microsoft Office PowerPoint</Application>
  <PresentationFormat>On-screen Show (16:9)</PresentationFormat>
  <Paragraphs>346</Paragraphs>
  <Slides>18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Office Theme</vt:lpstr>
      <vt:lpstr>Visio.Drawing.11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Website for VU Sports Society – CS619 Final Year Project</dc:title>
  <dc:subject>PptxGenJS Presentation</dc:subject>
  <dc:creator>BC220416508</dc:creator>
  <cp:lastModifiedBy>bc220416508bal@vu.edu.pk BASHARAT ALI</cp:lastModifiedBy>
  <cp:revision>5</cp:revision>
  <dcterms:created xsi:type="dcterms:W3CDTF">2026-05-10T04:57:35Z</dcterms:created>
  <dcterms:modified xsi:type="dcterms:W3CDTF">2026-05-11T18:04:04Z</dcterms:modified>
</cp:coreProperties>
</file>